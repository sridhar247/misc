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4114800"/>
            <a:ext cx="8942832" cy="7315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Strategy &amp; Cost Optimization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Platform  |  DEV · QA · PREPROD · PROD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|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7315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 – Architecture &amp; Strategy  |  MES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420624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ADC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97280"/>
            <a:ext cx="502920" cy="10058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972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11887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DocumentDB: Provisioned vs. Serverless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206240" cy="1005840"/>
          </a:xfrm>
          <a:prstGeom prst="rect">
            <a:avLst/>
          </a:prstGeom>
          <a:solidFill>
            <a:srgbClr val="E8F5F5"/>
          </a:solidFill>
          <a:ln w="12700">
            <a:solidFill>
              <a:srgbClr val="9ECE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9728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11887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Topology (DEV, QA, PREPROD, PROD)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420624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ADC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286000"/>
            <a:ext cx="502920" cy="10058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8600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23774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Clusters Are Accessed &amp; Developer Connectivity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206240" cy="1005840"/>
          </a:xfrm>
          <a:prstGeom prst="rect">
            <a:avLst/>
          </a:prstGeom>
          <a:solidFill>
            <a:srgbClr val="E8F5F5"/>
          </a:solidFill>
          <a:ln w="12700">
            <a:solidFill>
              <a:srgbClr val="9ECE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286000"/>
            <a:ext cx="502920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28600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23774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Functional Flow with DocumentDB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4206240" cy="1005840"/>
          </a:xfrm>
          <a:prstGeom prst="rect">
            <a:avLst/>
          </a:prstGeom>
          <a:solidFill>
            <a:srgbClr val="D6E4F0"/>
          </a:solidFill>
          <a:ln w="12700">
            <a:solidFill>
              <a:srgbClr val="ADC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474720"/>
            <a:ext cx="502920" cy="10058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47472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68680" y="35661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DocumentDB Was Chosen Over MarkLogic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474720"/>
            <a:ext cx="4206240" cy="1005840"/>
          </a:xfrm>
          <a:prstGeom prst="rect">
            <a:avLst/>
          </a:prstGeom>
          <a:solidFill>
            <a:srgbClr val="E8F5F5"/>
          </a:solidFill>
          <a:ln w="12700">
            <a:solidFill>
              <a:srgbClr val="9ECE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474720"/>
            <a:ext cx="502920" cy="10058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474720"/>
            <a:ext cx="502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49240" y="35661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Savings: Serverless Migration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DocumentDB: Provisioned vs. Serverless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7315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 – Architecture &amp; Strategy  |  MES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PROVISIONED CLUSTERS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41732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instance class (db.r6g.2xlarge, db.r6g.4xlarge)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scaling – requires instance class change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fixed hourly cost billed 24/7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brief outage during resizing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stable, predictable production workloads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operational overhead – manual tuning required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E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41732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Auto-scales in 0.5 DCU increments (0.5 to 256 DCUs)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scaling – AWS manages capacity automatically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billing (DCU-hours only when used)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live – no disruption to active connections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variable / spiky workloads and dev/test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operational overhead – fully AWS-managed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DocumentDB Serverless – Key Facts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7315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 – Architecture &amp; Strategy  |  MES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1920240" cy="1188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143000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" y="1764792"/>
            <a:ext cx="192024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DCUs (Idle)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051560"/>
            <a:ext cx="1920240" cy="118872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1143000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377440" y="1764792"/>
            <a:ext cx="192024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DCUs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051560"/>
            <a:ext cx="1920240" cy="1188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80560" y="1143000"/>
            <a:ext cx="192024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GiB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80560" y="1764792"/>
            <a:ext cx="192024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per DCU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1051560"/>
            <a:ext cx="2286000" cy="118872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143000"/>
            <a:ext cx="2286000" cy="68945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2025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583680" y="1764792"/>
            <a:ext cx="228600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Launch 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468880"/>
            <a:ext cx="8595360" cy="2331720"/>
          </a:xfrm>
          <a:prstGeom prst="rect">
            <a:avLst/>
          </a:prstGeom>
          <a:solidFill>
            <a:srgbClr val="D6E4F0"/>
          </a:solidFill>
          <a:ln w="12700">
            <a:solidFill>
              <a:srgbClr val="ADC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42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Serverless Scaling Works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11480" y="288036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UP by adding 0.5, 1, 1.5, or 2+ DCUs as workload increases – no whole-instance additions required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DOWN in the same increments when workload decreases; scales to idle (0.5 DCU) when inactive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occurs live – no disruption to open connections or in-progress transactions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MinCapacity ≤ 1 DCU: cursor, connection, and transaction limits are capped to support idle-state scaling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Insights requires MinCapacity ≥ 2 DCUs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Topology – 4 Environments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7315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 – Architecture &amp; Strategy  |  MES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011680" cy="3794760"/>
          </a:xfrm>
          <a:prstGeom prst="rect">
            <a:avLst/>
          </a:prstGeom>
          <a:solidFill>
            <a:srgbClr val="D6EAF8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005840"/>
            <a:ext cx="2011680" cy="5029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" y="1325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&amp; Green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1600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db.r6g.2xlarge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103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0040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vCPUs / 64 GB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606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2770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development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dev streams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" y="3977640"/>
            <a:ext cx="1792224" cy="56692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97764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Target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8328" y="417880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16 DCUs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04872" y="1005840"/>
            <a:ext cx="2011680" cy="3794760"/>
          </a:xfrm>
          <a:prstGeom prst="rect">
            <a:avLst/>
          </a:prstGeom>
          <a:solidFill>
            <a:srgbClr val="F5EEF8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04872" y="1005840"/>
            <a:ext cx="201168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04872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404872" y="1325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Cluster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496312" y="1600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496312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db.r6g.4xlarge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496312" y="2103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496312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vCPUs / 128 GB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496312" y="2606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496312" y="2770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functional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14600" y="3977640"/>
            <a:ext cx="1792224" cy="56692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14600" y="397764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Target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514600" y="417880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32 DCUs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81144" y="1005840"/>
            <a:ext cx="2011680" cy="3794760"/>
          </a:xfrm>
          <a:prstGeom prst="rect">
            <a:avLst/>
          </a:prstGeom>
          <a:solidFill>
            <a:srgbClr val="E8F5F5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81144" y="1005840"/>
            <a:ext cx="2011680" cy="5029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81144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PREPROD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4581144" y="1325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72584" y="1600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672584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db.r6g.4xlarge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672584" y="2103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72584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vCPUs / 128 GB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72584" y="2606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72584" y="2770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90872" y="3977640"/>
            <a:ext cx="1792224" cy="5669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90872" y="397764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Target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690872" y="417880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32 DCUs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757416" y="1005840"/>
            <a:ext cx="2011680" cy="3794760"/>
          </a:xfrm>
          <a:prstGeom prst="rect">
            <a:avLst/>
          </a:prstGeom>
          <a:solidFill>
            <a:srgbClr val="FDEDEC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57416" y="1005840"/>
            <a:ext cx="201168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57416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757416" y="1325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Writer + 2 Readers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848856" y="16002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TYPE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48856" y="17647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db.r6g.4xlarge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848856" y="2103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48856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vCPUs / 128 GB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48856" y="2606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848856" y="2770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workloads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867144" y="3977640"/>
            <a:ext cx="1792224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67144" y="397764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Target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867144" y="4178808"/>
            <a:ext cx="1792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64 DCUs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295144" y="2926080"/>
            <a:ext cx="109728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4471416" y="2926080"/>
            <a:ext cx="109728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6647688" y="2926080"/>
            <a:ext cx="109728" cy="0"/>
          </a:xfrm>
          <a:prstGeom prst="line">
            <a:avLst/>
          </a:prstGeom>
          <a:noFill/>
          <a:ln w="12700">
            <a:solidFill>
              <a:srgbClr val="4A5568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DocumentDB Clusters Are Accessed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7315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 – Architecture &amp; Strategy  |  MES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Glue Job Connectivity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retrieved from AWS Secrets Manager at runtime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parameters (host, port, SSL) from AWS Parameter Store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TLS/SSL enforced on all connections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URI with authSource=admin, ssl=true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VPC connection (scdhhs-mes-blue) routes traffic securely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library (commonPythonlib.zip) centralizes all DocumentDB logic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977640"/>
            <a:ext cx="4114800" cy="658368"/>
          </a:xfrm>
          <a:prstGeom prst="rect">
            <a:avLst/>
          </a:prstGeom>
          <a:solidFill>
            <a:srgbClr val="E8F5F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00507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No credentials embedded in Glue code. All secrets resolved at runtime via Secrets Manager.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0" cy="3794760"/>
          </a:xfrm>
          <a:prstGeom prst="line">
            <a:avLst/>
          </a:prstGeom>
          <a:noFill/>
          <a:ln w="12700">
            <a:solidFill>
              <a:srgbClr val="CCDDE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709160" y="10058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Access Methods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1490472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490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14630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Shell via EC2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20640" y="16733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Manager – no SSH key; direct CLI access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185416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185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21579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36829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via AWS Console; no MongoDB client needed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2880360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880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85292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3T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063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GUI; visual query builder + aggregation editor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575304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5753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3547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Compass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375818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official GUI; SSH tunnel via EC2 bastion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4270248"/>
            <a:ext cx="329184" cy="32918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270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20640" y="42428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44531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In-IDE schema/index view; query + code conversion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Functional Flow with DocumentDB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7315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 – Architecture &amp; Strategy  |  MES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1993392" cy="1600200"/>
          </a:xfrm>
          <a:prstGeom prst="rect">
            <a:avLst/>
          </a:prstGeom>
          <a:solidFill>
            <a:srgbClr val="D6E4F0"/>
          </a:solidFill>
          <a:ln w="19050">
            <a:solidFill>
              <a:srgbClr val="1F3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" y="822960"/>
            <a:ext cx="493776" cy="493776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82296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Files Arrive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1752" y="175564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provider input files land in S3 folders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21992" y="1805940"/>
            <a:ext cx="182880" cy="0"/>
          </a:xfrm>
          <a:prstGeom prst="line">
            <a:avLst/>
          </a:prstGeom>
          <a:noFill/>
          <a:ln w="19050">
            <a:solidFill>
              <a:srgbClr val="1F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04872" y="1005840"/>
            <a:ext cx="1993392" cy="1600200"/>
          </a:xfrm>
          <a:prstGeom prst="rect">
            <a:avLst/>
          </a:prstGeom>
          <a:solidFill>
            <a:srgbClr val="D6E4F0"/>
          </a:solidFill>
          <a:ln w="19050">
            <a:solidFill>
              <a:srgbClr val="1F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822960"/>
            <a:ext cx="493776" cy="493776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82296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78024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Trigger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78024" y="175564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 fires for each file drop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98264" y="1805940"/>
            <a:ext cx="182880" cy="0"/>
          </a:xfrm>
          <a:prstGeom prst="line">
            <a:avLst/>
          </a:prstGeom>
          <a:noFill/>
          <a:ln w="19050">
            <a:solidFill>
              <a:srgbClr val="1F3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81144" y="1005840"/>
            <a:ext cx="1993392" cy="1600200"/>
          </a:xfrm>
          <a:prstGeom prst="rect">
            <a:avLst/>
          </a:prstGeom>
          <a:solidFill>
            <a:srgbClr val="D6E4F0"/>
          </a:solidFill>
          <a:ln w="19050">
            <a:solidFill>
              <a:srgbClr val="1F3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30952" y="822960"/>
            <a:ext cx="493776" cy="493776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82296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54296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Check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54296" y="175564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checks for all 9 files; pulls params from Parameter Store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74536" y="1805940"/>
            <a:ext cx="182880" cy="0"/>
          </a:xfrm>
          <a:prstGeom prst="line">
            <a:avLst/>
          </a:prstGeom>
          <a:noFill/>
          <a:ln w="19050">
            <a:solidFill>
              <a:srgbClr val="1F3A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57416" y="1005840"/>
            <a:ext cx="1993392" cy="1600200"/>
          </a:xfrm>
          <a:prstGeom prst="rect">
            <a:avLst/>
          </a:prstGeom>
          <a:solidFill>
            <a:srgbClr val="D6E4F0"/>
          </a:solidFill>
          <a:ln w="19050">
            <a:solidFill>
              <a:srgbClr val="1F3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07224" y="822960"/>
            <a:ext cx="493776" cy="493776"/>
          </a:xfrm>
          <a:prstGeom prst="ellipse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07224" y="82296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30568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30568" y="175564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triggered; reads files into Spark DataFrames via SQL config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743200"/>
            <a:ext cx="1993392" cy="1600200"/>
          </a:xfrm>
          <a:prstGeom prst="rect">
            <a:avLst/>
          </a:prstGeom>
          <a:solidFill>
            <a:srgbClr val="D6E4F0"/>
          </a:solidFill>
          <a:ln w="19050">
            <a:solidFill>
              <a:srgbClr val="1F3A6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8408" y="2560320"/>
            <a:ext cx="493776" cy="49377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25603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01752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Map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01752" y="34930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mapped to SCDHHS canonical JSON model + metadata envelope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21992" y="3543300"/>
            <a:ext cx="182880" cy="0"/>
          </a:xfrm>
          <a:prstGeom prst="line">
            <a:avLst/>
          </a:prstGeom>
          <a:noFill/>
          <a:ln w="19050">
            <a:solidFill>
              <a:srgbClr val="1F3A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04872" y="2743200"/>
            <a:ext cx="1993392" cy="1600200"/>
          </a:xfrm>
          <a:prstGeom prst="rect">
            <a:avLst/>
          </a:prstGeom>
          <a:solidFill>
            <a:srgbClr val="FDEDEC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54680" y="2560320"/>
            <a:ext cx="493776" cy="49377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54680" y="25603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478024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478024" y="34930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records → CloudWatch logs + error collection in DocumentDB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98264" y="3543300"/>
            <a:ext cx="182880" cy="0"/>
          </a:xfrm>
          <a:prstGeom prst="line">
            <a:avLst/>
          </a:prstGeom>
          <a:noFill/>
          <a:ln w="19050">
            <a:solidFill>
              <a:srgbClr val="1F3A6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81144" y="2743200"/>
            <a:ext cx="1993392" cy="1600200"/>
          </a:xfrm>
          <a:prstGeom prst="rect">
            <a:avLst/>
          </a:prstGeom>
          <a:solidFill>
            <a:srgbClr val="D6E4F0"/>
          </a:solidFill>
          <a:ln w="19050">
            <a:solidFill>
              <a:srgbClr val="1F3A6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30952" y="2560320"/>
            <a:ext cx="493776" cy="49377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30952" y="25603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654296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DocumentDB Write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654296" y="34930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docs written to provider-scdhhs-canonical collection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574536" y="3543300"/>
            <a:ext cx="182880" cy="0"/>
          </a:xfrm>
          <a:prstGeom prst="line">
            <a:avLst/>
          </a:prstGeom>
          <a:noFill/>
          <a:ln w="19050">
            <a:solidFill>
              <a:srgbClr val="1F3A6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57416" y="2743200"/>
            <a:ext cx="1993392" cy="1600200"/>
          </a:xfrm>
          <a:prstGeom prst="rect">
            <a:avLst/>
          </a:prstGeom>
          <a:solidFill>
            <a:srgbClr val="D6E4F0"/>
          </a:solidFill>
          <a:ln w="19050">
            <a:solidFill>
              <a:srgbClr val="1F3A6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07224" y="2560320"/>
            <a:ext cx="493776" cy="49377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07224" y="25603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30568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&amp; Notify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30568" y="3493008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archived in S3; SUCCESS / PARTIAL / ERROR emails sent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Glue Job Performance – MongoDB Spark Connector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7315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 – Architecture &amp; Strategy  |  MES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256032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143000"/>
            <a:ext cx="2560320" cy="74249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 hrs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" y="1819656"/>
            <a:ext cx="256032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Glue Connector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(Before)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560320" cy="128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143000"/>
            <a:ext cx="2560320" cy="74249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1819656"/>
            <a:ext cx="256032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Connector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051560"/>
            <a:ext cx="2560320" cy="12801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143000"/>
            <a:ext cx="2560320" cy="74249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1819656"/>
            <a:ext cx="2560320" cy="486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514600"/>
            <a:ext cx="8595360" cy="2377440"/>
          </a:xfrm>
          <a:prstGeom prst="rect">
            <a:avLst/>
          </a:prstGeom>
          <a:solidFill>
            <a:srgbClr val="D6E4F0"/>
          </a:solidFill>
          <a:ln w="12700">
            <a:solidFill>
              <a:srgbClr val="ADC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MongoDB Spark Connector Works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2971800"/>
            <a:ext cx="8321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workload across multiple Spark executors using configurable partition keys (_id), partition sizes (64 MB), and batch sizes (10,000 records)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all available CPU cores and threads concurrently – unlike the serial native connector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JAR dependency: mongo-spark-connector_2.12-3.0.2.jar to Glue job Dependent JARs path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penalty (after idle weekend): ~12–14 min first run; subsequent runs consistently under 5 minutes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7.5 million records; fixed schema variant captures empty attributes via schema pre-fetch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DocumentDB Was Chosen Over MarkLogic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7315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 – Architecture &amp; Strategy  |  MES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Architectural Decision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325880"/>
            <a:ext cx="8595360" cy="658368"/>
          </a:xfrm>
          <a:prstGeom prst="rect">
            <a:avLst/>
          </a:prstGeom>
          <a:solidFill>
            <a:srgbClr val="E8F5F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53312"/>
            <a:ext cx="8321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harmonization logic and canonical model mappings are performed in AWS Glue – not in the database layer. DocumentDB serves as the cloud-native ODS. There is no Raw Data Layer (RDL) concept in the new architecture; each load is a fresh overwrite.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256032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B8D4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52928" y="2103120"/>
            <a:ext cx="2743200" cy="365760"/>
          </a:xfrm>
          <a:prstGeom prst="rect">
            <a:avLst/>
          </a:prstGeom>
          <a:solidFill>
            <a:srgbClr val="FDEDEC"/>
          </a:solidFill>
          <a:ln w="6350">
            <a:solidFill>
              <a:srgbClr val="F1A9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14416" y="2103120"/>
            <a:ext cx="3255264" cy="365760"/>
          </a:xfrm>
          <a:prstGeom prst="rect">
            <a:avLst/>
          </a:prstGeom>
          <a:solidFill>
            <a:srgbClr val="EAFAF1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4884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Integration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26080" y="2148840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custom connectors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87568" y="21488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Native: Glue, Lambda, Athena, CloudWatch, Secrets Manager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496312"/>
            <a:ext cx="2560320" cy="365760"/>
          </a:xfrm>
          <a:prstGeom prst="rect">
            <a:avLst/>
          </a:prstGeom>
          <a:solidFill>
            <a:srgbClr val="EBF5FB"/>
          </a:solidFill>
          <a:ln w="6350">
            <a:solidFill>
              <a:srgbClr val="B8D4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52928" y="2496312"/>
            <a:ext cx="2743200" cy="365760"/>
          </a:xfrm>
          <a:prstGeom prst="rect">
            <a:avLst/>
          </a:prstGeom>
          <a:solidFill>
            <a:srgbClr val="FEF9F9"/>
          </a:solidFill>
          <a:ln w="6350">
            <a:solidFill>
              <a:srgbClr val="F1A9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14416" y="2496312"/>
            <a:ext cx="3255264" cy="365760"/>
          </a:xfrm>
          <a:prstGeom prst="rect">
            <a:avLst/>
          </a:prstGeom>
          <a:solidFill>
            <a:srgbClr val="F2FBF6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542032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0" y="2542032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XQuery / SPARQL (steep learning curve)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87568" y="25420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MongoDB-compatible (wide developer familiarity)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889504"/>
            <a:ext cx="256032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B8D4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52928" y="2889504"/>
            <a:ext cx="2743200" cy="365760"/>
          </a:xfrm>
          <a:prstGeom prst="rect">
            <a:avLst/>
          </a:prstGeom>
          <a:solidFill>
            <a:srgbClr val="FDEDEC"/>
          </a:solidFill>
          <a:ln w="6350">
            <a:solidFill>
              <a:srgbClr val="F1A9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14416" y="2889504"/>
            <a:ext cx="3255264" cy="365760"/>
          </a:xfrm>
          <a:prstGeom prst="rect">
            <a:avLst/>
          </a:prstGeom>
          <a:solidFill>
            <a:srgbClr val="EAFAF1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935224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Overhead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0" y="2935224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– DBA expertise, manual patching/scaling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87568" y="29352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– fully AWS-managed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282696"/>
            <a:ext cx="2560320" cy="365760"/>
          </a:xfrm>
          <a:prstGeom prst="rect">
            <a:avLst/>
          </a:prstGeom>
          <a:solidFill>
            <a:srgbClr val="EBF5FB"/>
          </a:solidFill>
          <a:ln w="6350">
            <a:solidFill>
              <a:srgbClr val="B8D4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52928" y="3282696"/>
            <a:ext cx="2743200" cy="365760"/>
          </a:xfrm>
          <a:prstGeom prst="rect">
            <a:avLst/>
          </a:prstGeom>
          <a:solidFill>
            <a:srgbClr val="FEF9F9"/>
          </a:solidFill>
          <a:ln w="6350">
            <a:solidFill>
              <a:srgbClr val="F1A9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14416" y="3282696"/>
            <a:ext cx="3255264" cy="365760"/>
          </a:xfrm>
          <a:prstGeom prst="rect">
            <a:avLst/>
          </a:prstGeom>
          <a:solidFill>
            <a:srgbClr val="F2FBF6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328416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926080" y="3328416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delete RDL docs before each load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87568" y="332841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overwrite per load – no pre-delete required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675888"/>
            <a:ext cx="256032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B8D4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52928" y="3675888"/>
            <a:ext cx="2743200" cy="365760"/>
          </a:xfrm>
          <a:prstGeom prst="rect">
            <a:avLst/>
          </a:prstGeom>
          <a:solidFill>
            <a:srgbClr val="FDEDEC"/>
          </a:solidFill>
          <a:ln w="6350">
            <a:solidFill>
              <a:srgbClr val="F1A9A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14416" y="3675888"/>
            <a:ext cx="3255264" cy="365760"/>
          </a:xfrm>
          <a:prstGeom prst="rect">
            <a:avLst/>
          </a:prstGeom>
          <a:solidFill>
            <a:srgbClr val="EAFAF1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721608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Data Issues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926080" y="3721608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Sort, facilities, address name, isprimary bugs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87568" y="372160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resolved correctly in DocumentDB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069080"/>
            <a:ext cx="2560320" cy="365760"/>
          </a:xfrm>
          <a:prstGeom prst="rect">
            <a:avLst/>
          </a:prstGeom>
          <a:solidFill>
            <a:srgbClr val="EBF5FB"/>
          </a:solidFill>
          <a:ln w="6350">
            <a:solidFill>
              <a:srgbClr val="B8D4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52928" y="4069080"/>
            <a:ext cx="2743200" cy="365760"/>
          </a:xfrm>
          <a:prstGeom prst="rect">
            <a:avLst/>
          </a:prstGeom>
          <a:solidFill>
            <a:srgbClr val="FEF9F9"/>
          </a:solidFill>
          <a:ln w="6350">
            <a:solidFill>
              <a:srgbClr val="F1A9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14416" y="4069080"/>
            <a:ext cx="3255264" cy="365760"/>
          </a:xfrm>
          <a:prstGeom prst="rect">
            <a:avLst/>
          </a:prstGeom>
          <a:solidFill>
            <a:srgbClr val="F2FBF6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4114800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2926080" y="4114800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license (expensive at scale)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687568" y="41148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Pay-per-use or provisioned; serverless option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4462272"/>
            <a:ext cx="2560320" cy="365760"/>
          </a:xfrm>
          <a:prstGeom prst="rect">
            <a:avLst/>
          </a:prstGeom>
          <a:solidFill>
            <a:srgbClr val="D6E4F0"/>
          </a:solidFill>
          <a:ln w="6350">
            <a:solidFill>
              <a:srgbClr val="B8D4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52928" y="4462272"/>
            <a:ext cx="2743200" cy="365760"/>
          </a:xfrm>
          <a:prstGeom prst="rect">
            <a:avLst/>
          </a:prstGeom>
          <a:solidFill>
            <a:srgbClr val="FDEDEC"/>
          </a:solidFill>
          <a:ln w="6350">
            <a:solidFill>
              <a:srgbClr val="F1A9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14416" y="4462272"/>
            <a:ext cx="3255264" cy="365760"/>
          </a:xfrm>
          <a:prstGeom prst="rect">
            <a:avLst/>
          </a:prstGeom>
          <a:solidFill>
            <a:srgbClr val="EAFAF1"/>
          </a:solidFill>
          <a:ln w="6350">
            <a:solidFill>
              <a:srgbClr val="A9D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4507992"/>
            <a:ext cx="24140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Triples / Mapper / publicID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926080" y="4507992"/>
            <a:ext cx="2596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and managed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687568" y="450799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– simplified document model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74320" y="1993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852928" y="1993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MARKLOGIC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614416" y="1993392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1993392"/>
            <a:ext cx="2560320" cy="256032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1993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852928" y="1993392"/>
            <a:ext cx="2743200" cy="2560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52928" y="1993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MARKLOGIC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614416" y="1993392"/>
            <a:ext cx="3255264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14416" y="1993392"/>
            <a:ext cx="3255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– Serverless Migration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7315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 – Architecture &amp; Strategy  |  MES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256032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97280"/>
            <a:ext cx="2560320" cy="71597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$14,400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4320" y="1746504"/>
            <a:ext cx="256032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Monthly 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(Provisioned – All Envs)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560320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097280"/>
            <a:ext cx="2560320" cy="71597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$4,170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1746504"/>
            <a:ext cx="256032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Monthly 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(Serverless – All Envs)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005840"/>
            <a:ext cx="2560320" cy="12344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097280"/>
            <a:ext cx="2560320" cy="715975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1746504"/>
            <a:ext cx="2560320" cy="4690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377440"/>
          <a:ext cx="8595360" cy="233172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560320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(Provisioned)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Monthly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E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 (Blue + Green)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~$278/mo each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– 16 DCUs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savings during idle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~$278/mo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– 32 DCUs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savings during idle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~$556/mo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32 DCUs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 (1W + 2R)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~$1,665+/mo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– 64 DCUs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– usage-based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~$14,400/mo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~$4,170/mo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274320" y="475488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Estimates based on 25% avg utilization at $0.0905/DCU-hr (I/O-Optimized, US East N. Virginia). Actual costs vary by workload.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Best Practices &amp; Monitoring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4892040"/>
            <a:ext cx="73152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DocumentDB – Architecture &amp; Strategy  |  MES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0" y="4892040"/>
            <a:ext cx="3657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160520" cy="1188720"/>
          </a:xfrm>
          <a:prstGeom prst="rect">
            <a:avLst/>
          </a:prstGeom>
          <a:solidFill>
            <a:srgbClr val="D6E4F0"/>
          </a:solidFill>
          <a:ln w="12700">
            <a:solidFill>
              <a:srgbClr val="ADC8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051560"/>
            <a:ext cx="146304" cy="118872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124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Min/Max DCU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143560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MinCapacity as low as possible (0.5 DCU) for idle periods. Set MaxCapacity based on peak workload data from CloudWatch.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160520" cy="1188720"/>
          </a:xfrm>
          <a:prstGeom prst="rect">
            <a:avLst/>
          </a:prstGeom>
          <a:solidFill>
            <a:srgbClr val="E8F5F5"/>
          </a:solidFill>
          <a:ln w="12700">
            <a:solidFill>
              <a:srgbClr val="9ECE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51560"/>
            <a:ext cx="146304" cy="1188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124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Idle Connections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56048" y="143560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unused sessions promptly. Implement connection pooling with timeouts to prevent the cluster staying scaled up.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4160520" cy="1188720"/>
          </a:xfrm>
          <a:prstGeom prst="rect">
            <a:avLst/>
          </a:prstGeom>
          <a:solidFill>
            <a:srgbClr val="D6E4F0"/>
          </a:solidFill>
          <a:ln w="12700">
            <a:solidFill>
              <a:srgbClr val="ADC8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377440"/>
            <a:ext cx="146304" cy="118872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450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Non-Essential Features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276148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Performance Insights on lower environments if not required (needs MinCapacity ≥ 2 DCUs).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2377440"/>
            <a:ext cx="4160520" cy="1188720"/>
          </a:xfrm>
          <a:prstGeom prst="rect">
            <a:avLst/>
          </a:prstGeom>
          <a:solidFill>
            <a:srgbClr val="E8F5F5"/>
          </a:solidFill>
          <a:ln w="12700">
            <a:solidFill>
              <a:srgbClr val="9ECE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377440"/>
            <a:ext cx="146304" cy="1188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2450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Alarm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56048" y="276148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alarms on: DCUUtilization &gt;80%, FreeableMemory &lt;500 MB, ReadLatency / WriteLatency spikes.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03320"/>
            <a:ext cx="4160520" cy="1188720"/>
          </a:xfrm>
          <a:prstGeom prst="rect">
            <a:avLst/>
          </a:prstGeom>
          <a:solidFill>
            <a:srgbClr val="D6E4F0"/>
          </a:solidFill>
          <a:ln w="12700">
            <a:solidFill>
              <a:srgbClr val="ADC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703320"/>
            <a:ext cx="146304" cy="118872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776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Scale Behavior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" y="408736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how quickly the cluster scales down after workloads complete. Ensure no background tasks prevent scale-down.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703320"/>
            <a:ext cx="4160520" cy="1188720"/>
          </a:xfrm>
          <a:prstGeom prst="rect">
            <a:avLst/>
          </a:prstGeom>
          <a:solidFill>
            <a:srgbClr val="E8F5F5"/>
          </a:solidFill>
          <a:ln w="12700">
            <a:solidFill>
              <a:srgbClr val="9ECEC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703320"/>
            <a:ext cx="146304" cy="1188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776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 (Zero Downtime)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56048" y="408736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serverless reader instances → promote via failover → validate → decommission provisioned instance.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29184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96112" y="10789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DocumentDB is our cloud-native ODS 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07899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managed, AWS-native, replacing MarkLogic with a simpler canonical document model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8412480" cy="0"/>
          </a:xfrm>
          <a:prstGeom prst="line">
            <a:avLst/>
          </a:prstGeom>
          <a:noFill/>
          <a:ln w="6350">
            <a:solidFill>
              <a:srgbClr val="2A4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329184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1719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Environments – Right-Sized 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7190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(Blue/Green), QA, PREPROD, PROD – each sized appropriately with clear serverless targets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84832"/>
            <a:ext cx="8412480" cy="0"/>
          </a:xfrm>
          <a:prstGeom prst="line">
            <a:avLst/>
          </a:prstGeom>
          <a:noFill/>
          <a:ln w="6350">
            <a:solidFill>
              <a:srgbClr val="2A4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329184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2359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Access Patterns  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35915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 Shell, Athena (SQL), Studio 3T, MongoDB Compass, VS Code – all via secure VPC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24912"/>
            <a:ext cx="8412480" cy="0"/>
          </a:xfrm>
          <a:prstGeom prst="line">
            <a:avLst/>
          </a:prstGeom>
          <a:noFill/>
          <a:ln w="6350">
            <a:solidFill>
              <a:srgbClr val="2A4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971800"/>
            <a:ext cx="329184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71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29992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 Read Performance Gain 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99923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Spark Connector reduces Glue reads from ~4 hours to ~5 minutes for 7.5M records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64992"/>
            <a:ext cx="8412480" cy="0"/>
          </a:xfrm>
          <a:prstGeom prst="line">
            <a:avLst/>
          </a:prstGeom>
          <a:noFill/>
          <a:ln w="6350">
            <a:solidFill>
              <a:srgbClr val="2A4A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11880"/>
            <a:ext cx="329184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118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96112" y="3639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Cost Reduction Possible 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363931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to Serverless across all environments could save ~$10,000+/month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05072"/>
            <a:ext cx="8412480" cy="0"/>
          </a:xfrm>
          <a:prstGeom prst="line">
            <a:avLst/>
          </a:prstGeom>
          <a:noFill/>
          <a:ln w="6350">
            <a:solidFill>
              <a:srgbClr val="2A4A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51960"/>
            <a:ext cx="329184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51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96112" y="42793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Simplified  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427939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RDL, no triples, no mapper – all transformation logic in Glue; DocumentDB is the clean ODS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MES Platform  |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DocumentDB – Architecture &amp; Strategy</dc:title>
  <dc:subject>PptxGenJS Presentation</dc:subject>
  <dc:creator>MES Platform Team</dc:creator>
  <cp:lastModifiedBy>MES Platform Team</cp:lastModifiedBy>
  <cp:revision>1</cp:revision>
  <dcterms:created xsi:type="dcterms:W3CDTF">2026-05-22T14:57:04Z</dcterms:created>
  <dcterms:modified xsi:type="dcterms:W3CDTF">2026-05-22T14:57:04Z</dcterms:modified>
</cp:coreProperties>
</file>